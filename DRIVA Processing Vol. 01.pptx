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8138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727A64"/>
                </a:solidFill>
                <a:latin typeface="Arial"/>
              </a:rPr>
              <a:t>— DRIVA · FERMENTATION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8138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8000"/>
              </a:lnSpc>
            </a:pPr>
            <a:r>
              <a:rPr sz="7200" b="1" i="0">
                <a:solidFill>
                  <a:srgbClr val="FFFFFF"/>
                </a:solidFill>
                <a:latin typeface="Times New Roman"/>
              </a:rPr>
              <a:t>Something happens</a:t>
            </a:r>
          </a:p>
          <a:p>
            <a:pPr>
              <a:lnSpc>
                <a:spcPts val="8000"/>
              </a:lnSpc>
            </a:pPr>
            <a:r>
              <a:rPr sz="7200" b="1" i="0">
                <a:solidFill>
                  <a:srgbClr val="FFFFFF"/>
                </a:solidFill>
                <a:latin typeface="Times New Roman"/>
              </a:rPr>
              <a:t>in the dark.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52544"/>
            <a:ext cx="8138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200" b="0" i="0">
                <a:solidFill>
                  <a:srgbClr val="D8D8C8"/>
                </a:solidFill>
                <a:latin typeface="Arial"/>
              </a:rPr>
              <a:t>120 hours. No shortcuts. No guessing.</a:t>
            </a:r>
          </a:p>
          <a:p>
            <a:pPr>
              <a:lnSpc>
                <a:spcPts val="1900"/>
              </a:lnSpc>
            </a:pPr>
            <a:r>
              <a:rPr sz="1200" b="0" i="0">
                <a:solidFill>
                  <a:srgbClr val="D8D8C8"/>
                </a:solidFill>
                <a:latin typeface="Arial"/>
              </a:rPr>
              <a:t>Only the process — speaking through flavor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266944"/>
            <a:ext cx="8138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2744E"/>
                </a:solidFill>
                <a:latin typeface="Arial"/>
              </a:rPr>
              <a:t>·  </a:t>
            </a:r>
            <a:r>
              <a:rPr sz="1100" b="0" i="0">
                <a:solidFill>
                  <a:srgbClr val="C8C8B8"/>
                </a:solidFill>
                <a:latin typeface="Arial"/>
              </a:rPr>
              <a:t>Acidity held within a precise, deliberate rhythm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724144"/>
            <a:ext cx="8138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2744E"/>
                </a:solidFill>
                <a:latin typeface="Arial"/>
              </a:rPr>
              <a:t>·  </a:t>
            </a:r>
            <a:r>
              <a:rPr sz="1100" b="0" i="0">
                <a:solidFill>
                  <a:srgbClr val="C8C8B8"/>
                </a:solidFill>
                <a:latin typeface="Arial"/>
              </a:rPr>
              <a:t>Pressure logged — never left to chance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81344"/>
            <a:ext cx="8138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2744E"/>
                </a:solidFill>
                <a:latin typeface="Arial"/>
              </a:rPr>
              <a:t>·  </a:t>
            </a:r>
            <a:r>
              <a:rPr sz="1100" b="0" i="0">
                <a:solidFill>
                  <a:srgbClr val="C8C8B8"/>
                </a:solidFill>
                <a:latin typeface="Arial"/>
              </a:rPr>
              <a:t>Temperature follows logic, not luck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638544"/>
            <a:ext cx="8138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2744E"/>
                </a:solidFill>
                <a:latin typeface="Arial"/>
              </a:rPr>
              <a:t>·  </a:t>
            </a:r>
            <a:r>
              <a:rPr sz="1100" b="0" i="0">
                <a:solidFill>
                  <a:srgbClr val="C8C8B8"/>
                </a:solidFill>
                <a:latin typeface="Arial"/>
              </a:rPr>
              <a:t>Flavor is not a mystery. Flavor is a decision.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7223760"/>
            <a:ext cx="8138160" cy="12700"/>
          </a:xfrm>
          <a:prstGeom prst="rect">
            <a:avLst/>
          </a:prstGeom>
          <a:solidFill>
            <a:srgbClr val="2A302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7351775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585C50"/>
                </a:solidFill>
                <a:latin typeface="Arial"/>
              </a:rPr>
              <a:t>DRIVA FERMENTATION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7991856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Arial"/>
              </a:rPr>
              <a:t>DRIVA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7991856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585C50"/>
                </a:solidFill>
                <a:latin typeface="Arial"/>
              </a:rPr>
              <a:t>FERMENTATION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7991856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85C50"/>
                </a:solidFill>
                <a:latin typeface="Arial"/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8138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727A64"/>
                </a:solidFill>
                <a:latin typeface="Arial"/>
              </a:rPr>
              <a:t>— DRIVA · FLAVOR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8138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8000"/>
              </a:lnSpc>
            </a:pPr>
            <a:r>
              <a:rPr sz="7200" b="1" i="0">
                <a:solidFill>
                  <a:srgbClr val="FFFFFF"/>
                </a:solidFill>
                <a:latin typeface="Times New Roman"/>
              </a:rPr>
              <a:t>At 1,600 to 1,800</a:t>
            </a:r>
          </a:p>
          <a:p>
            <a:pPr>
              <a:lnSpc>
                <a:spcPts val="8000"/>
              </a:lnSpc>
            </a:pPr>
            <a:r>
              <a:rPr sz="7200" b="1" i="0">
                <a:solidFill>
                  <a:srgbClr val="FFFFFF"/>
                </a:solidFill>
                <a:latin typeface="Times New Roman"/>
              </a:rPr>
              <a:t>metres above the sea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52544"/>
            <a:ext cx="8138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200" b="0" i="0">
                <a:solidFill>
                  <a:srgbClr val="D8D8C8"/>
                </a:solidFill>
                <a:latin typeface="Arial"/>
              </a:rPr>
              <a:t>The air is thin. The nights are cold.</a:t>
            </a:r>
          </a:p>
          <a:p>
            <a:pPr>
              <a:lnSpc>
                <a:spcPts val="1900"/>
              </a:lnSpc>
            </a:pPr>
            <a:r>
              <a:rPr sz="1200" b="0" i="0">
                <a:solidFill>
                  <a:srgbClr val="D8D8C8"/>
                </a:solidFill>
                <a:latin typeface="Arial"/>
              </a:rPr>
              <a:t>And the coffee takes its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266944"/>
            <a:ext cx="8138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2744E"/>
                </a:solidFill>
                <a:latin typeface="Arial"/>
              </a:rPr>
              <a:t>·  </a:t>
            </a:r>
            <a:r>
              <a:rPr sz="1100" b="0" i="0">
                <a:solidFill>
                  <a:srgbClr val="C8C8B8"/>
                </a:solidFill>
                <a:latin typeface="Arial"/>
              </a:rPr>
              <a:t>High altitude slows everything — and that's the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724144"/>
            <a:ext cx="8138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2744E"/>
                </a:solidFill>
                <a:latin typeface="Arial"/>
              </a:rPr>
              <a:t>·  </a:t>
            </a:r>
            <a:r>
              <a:rPr sz="1100" b="0" i="0">
                <a:solidFill>
                  <a:srgbClr val="C8C8B8"/>
                </a:solidFill>
                <a:latin typeface="Arial"/>
              </a:rPr>
              <a:t>Longer cherry maturation — deeper sugars, layered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81344"/>
            <a:ext cx="8138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2744E"/>
                </a:solidFill>
                <a:latin typeface="Arial"/>
              </a:rPr>
              <a:t>·  </a:t>
            </a:r>
            <a:r>
              <a:rPr sz="1100" b="0" i="0">
                <a:solidFill>
                  <a:srgbClr val="C8C8B8"/>
                </a:solidFill>
                <a:latin typeface="Arial"/>
              </a:rPr>
              <a:t>Cool nights preserve acidity, florals, and delicate fruit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638544"/>
            <a:ext cx="8138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2744E"/>
                </a:solidFill>
                <a:latin typeface="Arial"/>
              </a:rPr>
              <a:t>·  </a:t>
            </a:r>
            <a:r>
              <a:rPr sz="1100" b="0" i="0">
                <a:solidFill>
                  <a:srgbClr val="C8C8B8"/>
                </a:solidFill>
                <a:latin typeface="Arial"/>
              </a:rPr>
              <a:t>Apricot. Passion Fruit. Mandarin. Born here. Shaped by 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7223760"/>
            <a:ext cx="8138160" cy="12700"/>
          </a:xfrm>
          <a:prstGeom prst="rect">
            <a:avLst/>
          </a:prstGeom>
          <a:solidFill>
            <a:srgbClr val="2A302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7351775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585C50"/>
                </a:solidFill>
                <a:latin typeface="Arial"/>
              </a:rPr>
              <a:t>SIDRAP COLLECTIVE  ·  BARABABALI  ·  ATENG SUPER  ·  TONKA  ·  YELLOW CATIMOR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7991856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Arial"/>
              </a:rPr>
              <a:t>DRIVA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7991856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585C50"/>
                </a:solidFill>
                <a:latin typeface="Arial"/>
              </a:rPr>
              <a:t>TRACING COFFEE TO ITS SOUL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7991856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85C50"/>
                </a:solidFill>
                <a:latin typeface="Arial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8138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727A64"/>
                </a:solidFill>
                <a:latin typeface="Arial"/>
              </a:rPr>
              <a:t>— DRIVA ·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8138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8000"/>
              </a:lnSpc>
            </a:pPr>
            <a:r>
              <a:rPr sz="7200" b="1" i="0">
                <a:solidFill>
                  <a:srgbClr val="FFFFFF"/>
                </a:solidFill>
                <a:latin typeface="Times New Roman"/>
              </a:rPr>
              <a:t>We don't sell</a:t>
            </a:r>
          </a:p>
          <a:p>
            <a:pPr>
              <a:lnSpc>
                <a:spcPts val="8000"/>
              </a:lnSpc>
            </a:pPr>
            <a:r>
              <a:rPr sz="7200" b="1" i="0">
                <a:solidFill>
                  <a:srgbClr val="FFFFFF"/>
                </a:solidFill>
                <a:latin typeface="Times New Roman"/>
              </a:rPr>
              <a:t>beautiful coffee.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52544"/>
            <a:ext cx="8138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200" b="0" i="0">
                <a:solidFill>
                  <a:srgbClr val="D8D8C8"/>
                </a:solidFill>
                <a:latin typeface="Arial"/>
              </a:rPr>
              <a:t>We document</a:t>
            </a:r>
          </a:p>
          <a:p>
            <a:pPr>
              <a:lnSpc>
                <a:spcPts val="1900"/>
              </a:lnSpc>
            </a:pPr>
            <a:r>
              <a:rPr sz="1200" b="0" i="0">
                <a:solidFill>
                  <a:srgbClr val="D8D8C8"/>
                </a:solidFill>
                <a:latin typeface="Arial"/>
              </a:rPr>
              <a:t>how that beauty is made.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266944"/>
            <a:ext cx="8138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2744E"/>
                </a:solidFill>
                <a:latin typeface="Arial"/>
              </a:rPr>
              <a:t>·  </a:t>
            </a:r>
            <a:r>
              <a:rPr sz="1100" b="0" i="0">
                <a:solidFill>
                  <a:srgbClr val="C8C8B8"/>
                </a:solidFill>
                <a:latin typeface="Arial"/>
              </a:rPr>
              <a:t>Every lot carries its own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724144"/>
            <a:ext cx="8138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2744E"/>
                </a:solidFill>
                <a:latin typeface="Arial"/>
              </a:rPr>
              <a:t>·  </a:t>
            </a:r>
            <a:r>
              <a:rPr sz="1100" b="0" i="0">
                <a:solidFill>
                  <a:srgbClr val="C8C8B8"/>
                </a:solidFill>
                <a:latin typeface="Arial"/>
              </a:rPr>
              <a:t>Every process leaves a trail that can be 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81344"/>
            <a:ext cx="8138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2744E"/>
                </a:solidFill>
                <a:latin typeface="Arial"/>
              </a:rPr>
              <a:t>·  </a:t>
            </a:r>
            <a:r>
              <a:rPr sz="1100" b="0" i="0">
                <a:solidFill>
                  <a:srgbClr val="C8C8B8"/>
                </a:solidFill>
                <a:latin typeface="Arial"/>
              </a:rPr>
              <a:t>Flavor DNA — not a claim, but a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638544"/>
            <a:ext cx="8138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2744E"/>
                </a:solidFill>
                <a:latin typeface="Arial"/>
              </a:rPr>
              <a:t>·  </a:t>
            </a:r>
            <a:r>
              <a:rPr sz="1100" b="0" i="0">
                <a:solidFill>
                  <a:srgbClr val="C8C8B8"/>
                </a:solidFill>
                <a:latin typeface="Arial"/>
              </a:rPr>
              <a:t>Honest coffee needs no exaggeration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7223760"/>
            <a:ext cx="8138160" cy="12700"/>
          </a:xfrm>
          <a:prstGeom prst="rect">
            <a:avLst/>
          </a:prstGeom>
          <a:solidFill>
            <a:srgbClr val="2A302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7351775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585C50"/>
                </a:solidFill>
                <a:latin typeface="Arial"/>
              </a:rPr>
              <a:t>CLASSIC WASHED  ·  FULL WASHED  ·  THERMAL DRYER  ·  LIQUID YEAST INOCULATION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7991856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Arial"/>
              </a:rPr>
              <a:t>DRIVA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7991856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585C50"/>
                </a:solidFill>
                <a:latin typeface="Arial"/>
              </a:rPr>
              <a:t>DATA-DRIVEN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7991856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85C50"/>
                </a:solidFill>
                <a:latin typeface="Arial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8138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727A64"/>
                </a:solidFill>
                <a:latin typeface="Arial"/>
              </a:rPr>
              <a:t>— DRIVA · ORIGIN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8138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8000"/>
              </a:lnSpc>
            </a:pPr>
            <a:r>
              <a:rPr sz="7200" b="1" i="0">
                <a:solidFill>
                  <a:srgbClr val="FFFFFF"/>
                </a:solidFill>
                <a:latin typeface="Times New Roman"/>
              </a:rPr>
              <a:t>There is a reason</a:t>
            </a:r>
          </a:p>
          <a:p>
            <a:pPr>
              <a:lnSpc>
                <a:spcPts val="8000"/>
              </a:lnSpc>
            </a:pPr>
            <a:r>
              <a:rPr sz="7200" b="1" i="0">
                <a:solidFill>
                  <a:srgbClr val="FFFFFF"/>
                </a:solidFill>
                <a:latin typeface="Times New Roman"/>
              </a:rPr>
              <a:t>we chose this place.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52544"/>
            <a:ext cx="8138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200" b="0" i="0">
                <a:solidFill>
                  <a:srgbClr val="D8D8C8"/>
                </a:solidFill>
                <a:latin typeface="Arial"/>
              </a:rPr>
              <a:t>Enrekang. Barababali.</a:t>
            </a:r>
          </a:p>
          <a:p>
            <a:pPr>
              <a:lnSpc>
                <a:spcPts val="1900"/>
              </a:lnSpc>
            </a:pPr>
            <a:r>
              <a:rPr sz="1200" b="0" i="0">
                <a:solidFill>
                  <a:srgbClr val="D8D8C8"/>
                </a:solidFill>
                <a:latin typeface="Arial"/>
              </a:rPr>
              <a:t>Not because it's close — because it's right.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266944"/>
            <a:ext cx="8138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2744E"/>
                </a:solidFill>
                <a:latin typeface="Arial"/>
              </a:rPr>
              <a:t>·  </a:t>
            </a:r>
            <a:r>
              <a:rPr sz="1100" b="0" i="0">
                <a:solidFill>
                  <a:srgbClr val="C8C8B8"/>
                </a:solidFill>
                <a:latin typeface="Arial"/>
              </a:rPr>
              <a:t>Nights drop to 13°C here — sugars develop slowly, deeply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724144"/>
            <a:ext cx="8138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2744E"/>
                </a:solidFill>
                <a:latin typeface="Arial"/>
              </a:rPr>
              <a:t>·  </a:t>
            </a:r>
            <a:r>
              <a:rPr sz="1100" b="0" i="0">
                <a:solidFill>
                  <a:srgbClr val="C8C8B8"/>
                </a:solidFill>
                <a:latin typeface="Arial"/>
              </a:rPr>
              <a:t>A land and its varieties that cannot be replicated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81344"/>
            <a:ext cx="8138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2744E"/>
                </a:solidFill>
                <a:latin typeface="Arial"/>
              </a:rPr>
              <a:t>·  </a:t>
            </a:r>
            <a:r>
              <a:rPr sz="1100" b="0" i="0">
                <a:solidFill>
                  <a:srgbClr val="C8C8B8"/>
                </a:solidFill>
                <a:latin typeface="Arial"/>
              </a:rPr>
              <a:t>Ateng Super. Typica. Yellow Caturra — each with its own 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638544"/>
            <a:ext cx="8138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2744E"/>
                </a:solidFill>
                <a:latin typeface="Arial"/>
              </a:rPr>
              <a:t>·  </a:t>
            </a:r>
            <a:r>
              <a:rPr sz="1100" b="0" i="0">
                <a:solidFill>
                  <a:srgbClr val="C8C8B8"/>
                </a:solidFill>
                <a:latin typeface="Arial"/>
              </a:rPr>
              <a:t>Terroir is not the backdrop. It is the protagonist.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7223760"/>
            <a:ext cx="8138160" cy="12700"/>
          </a:xfrm>
          <a:prstGeom prst="rect">
            <a:avLst/>
          </a:prstGeom>
          <a:solidFill>
            <a:srgbClr val="2A302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7351775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585C50"/>
                </a:solidFill>
                <a:latin typeface="Arial"/>
              </a:rPr>
              <a:t>ENREKANG COLLECTIVE  ·  BARABABALI  ·  MARADANG VILLAGE  ·  WEST 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7991856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Arial"/>
              </a:rPr>
              <a:t>DRIVA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7991856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585C50"/>
                </a:solidFill>
                <a:latin typeface="Arial"/>
              </a:rPr>
              <a:t>NEXT LEVEL TERROIR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7991856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85C50"/>
                </a:solidFill>
                <a:latin typeface="Arial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