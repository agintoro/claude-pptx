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8D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876300"/>
            <a:ext cx="158115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B665D"/>
                </a:solidFill>
                <a:latin typeface="Arial"/>
              </a:rPr>
              <a:t>DRIVA COFFEE CO.   ·   INDRAGIRI / PATENGAN / CITAMIANG   ·   2026 SEASON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821150" y="666750"/>
            <a:ext cx="609600" cy="609600"/>
          </a:xfrm>
          <a:prstGeom prst="roundRect">
            <a:avLst>
              <a:gd name="adj" fmla="val 2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14300"/>
          <a:lstStyle/>
          <a:p>
            <a:pPr algn="ctr"/>
            <a:r>
              <a:rPr sz="2700" b="1">
                <a:solidFill>
                  <a:srgbClr val="F7F3EA"/>
                </a:solidFill>
                <a:latin typeface="Arial"/>
              </a:rPr>
              <a:t>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619250"/>
            <a:ext cx="10267950" cy="190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0" b="1" i="0">
                <a:solidFill>
                  <a:srgbClr val="111111"/>
                </a:solidFill>
                <a:latin typeface="Arial"/>
              </a:rPr>
              <a:t>Terima kasih,</a:t>
            </a:r>
          </a:p>
          <a:p>
            <a:pPr algn="l"/>
            <a:r>
              <a:rPr sz="7500" b="0" i="1">
                <a:solidFill>
                  <a:srgbClr val="6B665D"/>
                </a:solidFill>
                <a:latin typeface="Arial"/>
              </a:rPr>
              <a:t>to our </a:t>
            </a:r>
            <a:r>
              <a:rPr sz="7500" b="1" i="0">
                <a:solidFill>
                  <a:srgbClr val="111111"/>
                </a:solidFill>
                <a:latin typeface="Arial"/>
              </a:rPr>
              <a:t>partners.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2381250"/>
            <a:ext cx="600075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665D"/>
                </a:solidFill>
                <a:latin typeface="Arial"/>
              </a:rPr>
              <a:t>To the fourteen roasters who put our lots
on the bar this season — sorted, fermented,
dried and rested by hand.
Watch the night RH. Keep the airflow steady.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733800"/>
            <a:ext cx="152400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6B665D"/>
                </a:solidFill>
                <a:latin typeface="Arial"/>
              </a:rPr>
              <a:t>PARTNER ROASTERS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57450" y="3819525"/>
            <a:ext cx="14211300" cy="9525"/>
          </a:xfrm>
          <a:prstGeom prst="rect">
            <a:avLst/>
          </a:prstGeom>
          <a:solidFill>
            <a:srgbClr val="E7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744950" y="3733800"/>
            <a:ext cx="68580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00" b="1" i="0">
                <a:solidFill>
                  <a:srgbClr val="111111"/>
                </a:solidFill>
                <a:latin typeface="Arial"/>
              </a:rPr>
              <a:t>14 / 14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4343400"/>
            <a:ext cx="1524000" cy="1524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7750" y="6000750"/>
            <a:ext cx="19812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11111"/>
                </a:solidFill>
                <a:latin typeface="Arial"/>
              </a:rPr>
              <a:t>Rumah Sangrai
Bloom</a:t>
            </a:r>
          </a:p>
          <a:p>
            <a:pPr algn="ctr"/>
            <a:r>
              <a:rPr sz="600" b="1" i="0">
                <a:solidFill>
                  <a:srgbClr val="6B665D"/>
                </a:solidFill>
                <a:latin typeface="Arial"/>
              </a:rPr>
              <a:t>Bandung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4343400"/>
            <a:ext cx="1524000" cy="1524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09950" y="6000750"/>
            <a:ext cx="19812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11111"/>
                </a:solidFill>
                <a:latin typeface="Arial"/>
              </a:rPr>
              <a:t>Forth Coffee Co.</a:t>
            </a:r>
          </a:p>
          <a:p>
            <a:pPr algn="ctr"/>
            <a:r>
              <a:rPr sz="600" b="1" i="0">
                <a:solidFill>
                  <a:srgbClr val="6B665D"/>
                </a:solidFill>
                <a:latin typeface="Arial"/>
              </a:rPr>
              <a:t>Jakarta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0" y="4343400"/>
            <a:ext cx="1524000" cy="1524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72150" y="6000750"/>
            <a:ext cx="19812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11111"/>
                </a:solidFill>
                <a:latin typeface="Arial"/>
              </a:rPr>
              <a:t>Hana Roastery</a:t>
            </a:r>
          </a:p>
          <a:p>
            <a:pPr algn="ctr"/>
            <a:r>
              <a:rPr sz="600" b="1" i="0">
                <a:solidFill>
                  <a:srgbClr val="6B665D"/>
                </a:solidFill>
                <a:latin typeface="Arial"/>
              </a:rPr>
              <a:t>Surabaya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2950" y="4343400"/>
            <a:ext cx="1524000" cy="1524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34350" y="6000750"/>
            <a:ext cx="19812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11111"/>
                </a:solidFill>
                <a:latin typeface="Arial"/>
              </a:rPr>
              <a:t>N. Roasters</a:t>
            </a:r>
          </a:p>
          <a:p>
            <a:pPr algn="ctr"/>
            <a:r>
              <a:rPr sz="600" b="1" i="0">
                <a:solidFill>
                  <a:srgbClr val="6B665D"/>
                </a:solidFill>
                <a:latin typeface="Arial"/>
              </a:rPr>
              <a:t>Yogyakarta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5150" y="4343400"/>
            <a:ext cx="1524000" cy="1524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96550" y="6000750"/>
            <a:ext cx="19812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11111"/>
                </a:solidFill>
                <a:latin typeface="Arial"/>
              </a:rPr>
              <a:t>Contrast</a:t>
            </a:r>
          </a:p>
          <a:p>
            <a:pPr algn="ctr"/>
            <a:r>
              <a:rPr sz="600" b="1" i="0">
                <a:solidFill>
                  <a:srgbClr val="6B665D"/>
                </a:solidFill>
                <a:latin typeface="Arial"/>
              </a:rPr>
              <a:t>Roastery — Bali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7350" y="4343400"/>
            <a:ext cx="1524000" cy="1524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858750" y="6000750"/>
            <a:ext cx="19812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11111"/>
                </a:solidFill>
                <a:latin typeface="Arial"/>
              </a:rPr>
              <a:t>Kozi Company</a:t>
            </a:r>
          </a:p>
          <a:p>
            <a:pPr algn="ctr"/>
            <a:r>
              <a:rPr sz="600" b="1" i="0">
                <a:solidFill>
                  <a:srgbClr val="6B665D"/>
                </a:solidFill>
                <a:latin typeface="Arial"/>
              </a:rPr>
              <a:t>Jakarta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49550" y="4343400"/>
            <a:ext cx="1524000" cy="1524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220950" y="6000750"/>
            <a:ext cx="19812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11111"/>
                </a:solidFill>
                <a:latin typeface="Arial"/>
              </a:rPr>
              <a:t>Koeslan's Coffee</a:t>
            </a:r>
          </a:p>
          <a:p>
            <a:pPr algn="ctr"/>
            <a:r>
              <a:rPr sz="600" b="1" i="0">
                <a:solidFill>
                  <a:srgbClr val="6B665D"/>
                </a:solidFill>
                <a:latin typeface="Arial"/>
              </a:rPr>
              <a:t>Semarang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6350" y="6686550"/>
            <a:ext cx="1524000" cy="1524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47750" y="8343900"/>
            <a:ext cx="19812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11111"/>
                </a:solidFill>
                <a:latin typeface="Arial"/>
              </a:rPr>
              <a:t>Instinct Roastery</a:t>
            </a:r>
          </a:p>
          <a:p>
            <a:pPr algn="ctr"/>
            <a:r>
              <a:rPr sz="600" b="1" i="0">
                <a:solidFill>
                  <a:srgbClr val="6B665D"/>
                </a:solidFill>
                <a:latin typeface="Arial"/>
              </a:rPr>
              <a:t>Bandung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8550" y="6686550"/>
            <a:ext cx="1524000" cy="1524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409950" y="8343900"/>
            <a:ext cx="19812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11111"/>
                </a:solidFill>
                <a:latin typeface="Arial"/>
              </a:rPr>
              <a:t>Fugol</a:t>
            </a:r>
          </a:p>
          <a:p>
            <a:pPr algn="ctr"/>
            <a:r>
              <a:rPr sz="600" b="1" i="0">
                <a:solidFill>
                  <a:srgbClr val="6B665D"/>
                </a:solidFill>
                <a:latin typeface="Arial"/>
              </a:rPr>
              <a:t>Roasters — Bali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00750" y="6686550"/>
            <a:ext cx="1524000" cy="1524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72150" y="8343900"/>
            <a:ext cx="19812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11111"/>
                </a:solidFill>
                <a:latin typeface="Arial"/>
              </a:rPr>
              <a:t>F. Roast Assembly</a:t>
            </a:r>
          </a:p>
          <a:p>
            <a:pPr algn="ctr"/>
            <a:r>
              <a:rPr sz="600" b="1" i="0">
                <a:solidFill>
                  <a:srgbClr val="6B665D"/>
                </a:solidFill>
                <a:latin typeface="Arial"/>
              </a:rPr>
              <a:t>Surabaya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2950" y="6686550"/>
            <a:ext cx="1524000" cy="1524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34350" y="8343900"/>
            <a:ext cx="19812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11111"/>
                </a:solidFill>
                <a:latin typeface="Arial"/>
              </a:rPr>
              <a:t>Steam &amp; Brew</a:t>
            </a:r>
          </a:p>
          <a:p>
            <a:pPr algn="ctr"/>
            <a:r>
              <a:rPr sz="600" b="1" i="0">
                <a:solidFill>
                  <a:srgbClr val="6B665D"/>
                </a:solidFill>
                <a:latin typeface="Arial"/>
              </a:rPr>
              <a:t>Specialty — Jakarta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25150" y="6686550"/>
            <a:ext cx="1524000" cy="1524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496550" y="8343900"/>
            <a:ext cx="19812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11111"/>
                </a:solidFill>
                <a:latin typeface="Arial"/>
              </a:rPr>
              <a:t>Kofind Coffee Co.</a:t>
            </a:r>
          </a:p>
          <a:p>
            <a:pPr algn="ctr"/>
            <a:r>
              <a:rPr sz="600" b="1" i="0">
                <a:solidFill>
                  <a:srgbClr val="6B665D"/>
                </a:solidFill>
                <a:latin typeface="Arial"/>
              </a:rPr>
              <a:t>Bandung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087350" y="6686550"/>
            <a:ext cx="1524000" cy="1524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858750" y="8343900"/>
            <a:ext cx="19812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11111"/>
                </a:solidFill>
                <a:latin typeface="Arial"/>
              </a:rPr>
              <a:t>People Temple</a:t>
            </a:r>
          </a:p>
          <a:p>
            <a:pPr algn="ctr"/>
            <a:r>
              <a:rPr sz="600" b="1" i="0">
                <a:solidFill>
                  <a:srgbClr val="6B665D"/>
                </a:solidFill>
                <a:latin typeface="Arial"/>
              </a:rPr>
              <a:t>Jakarta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449550" y="6686550"/>
            <a:ext cx="1524000" cy="1524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5220950" y="8343900"/>
            <a:ext cx="19812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11111"/>
                </a:solidFill>
                <a:latin typeface="Arial"/>
              </a:rPr>
              <a:t>Kopi Oemah l’adi</a:t>
            </a:r>
          </a:p>
          <a:p>
            <a:pPr algn="ctr"/>
            <a:r>
              <a:rPr sz="600" b="1" i="0">
                <a:solidFill>
                  <a:srgbClr val="6B665D"/>
                </a:solidFill>
                <a:latin typeface="Arial"/>
              </a:rPr>
              <a:t>Solo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7250" y="9296400"/>
            <a:ext cx="16573500" cy="9525"/>
          </a:xfrm>
          <a:prstGeom prst="rect">
            <a:avLst/>
          </a:prstGeom>
          <a:solidFill>
            <a:srgbClr val="E7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7250" y="9467850"/>
            <a:ext cx="47625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6B665D"/>
                </a:solidFill>
                <a:latin typeface="Arial"/>
              </a:rPr>
              <a:t>DRIVA PROCESSING OS · SEASON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19750" y="9467850"/>
            <a:ext cx="80010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11111"/>
                </a:solidFill>
                <a:latin typeface="Arial"/>
              </a:rPr>
              <a:t>DRV-IND-2605 · DRV-PAT-2605 · DRV-CIT-2605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25750" y="9467850"/>
            <a:ext cx="19050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00" b="1" i="0">
                <a:solidFill>
                  <a:srgbClr val="6B665D"/>
                </a:solidFill>
                <a:latin typeface="Arial"/>
              </a:rPr>
              <a:t>WITH THANKS.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